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</a:defRPr>
            </a:pPr>
            <a:r>
              <a:t>Breast Cancer Diagnostic Assistant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Advanced Machine Learning for Clinical Decision Support</a:t>
            </a:r>
          </a:p>
          <a:p>
            <a:r>
              <a:t>Dataset: Wisconsin Breast Cancer (Diagnostic)</a:t>
            </a:r>
          </a:p>
          <a:p>
            <a:r>
              <a:t>Presented by: [Your Name]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Presentation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Problem Definition &amp; Dataset</a:t>
            </a:r>
          </a:p>
          <a:p>
            <a:pPr>
              <a:defRPr sz="1800"/>
            </a:pPr>
            <a:r>
              <a:t>2. Exploratory Data Analysis (EDA)</a:t>
            </a:r>
          </a:p>
          <a:p>
            <a:pPr>
              <a:defRPr sz="1800"/>
            </a:pPr>
            <a:r>
              <a:t>3. Data Preprocessing &amp; Pipeline</a:t>
            </a:r>
          </a:p>
          <a:p>
            <a:pPr>
              <a:defRPr sz="1800"/>
            </a:pPr>
            <a:r>
              <a:t>4. Model Selection &amp; Training</a:t>
            </a:r>
          </a:p>
          <a:p>
            <a:pPr>
              <a:defRPr sz="1800"/>
            </a:pPr>
            <a:r>
              <a:t>5. Performance Evaluation</a:t>
            </a:r>
          </a:p>
          <a:p>
            <a:pPr>
              <a:defRPr sz="1800"/>
            </a:pPr>
            <a:r>
              <a:t>6. Clinical Application (Streamlit)</a:t>
            </a:r>
          </a:p>
          <a:p>
            <a:pPr>
              <a:defRPr sz="1800"/>
            </a:pPr>
            <a:r>
              <a:t>7. Conclusion &amp; Future Scope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Step 1: Problem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Objective: Early and accurate detection of breast cancer.</a:t>
            </a:r>
          </a:p>
          <a:p>
            <a:pPr>
              <a:defRPr sz="1800"/>
            </a:pPr>
            <a:r>
              <a:t>Clinical Significance: Breast cancer is the most common cancer among women globally.</a:t>
            </a:r>
          </a:p>
          <a:p>
            <a:pPr>
              <a:defRPr sz="1800"/>
            </a:pPr>
            <a:r>
              <a:t>Machine Learning Goal: Binary classification (Malignant vs. Benign).</a:t>
            </a:r>
          </a:p>
          <a:p>
            <a:pPr>
              <a:defRPr sz="1800"/>
            </a:pPr>
            <a:r>
              <a:t>Target Audience: Clinicians and healthcare providers.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Dataset: Wisconsin Breast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Source: UCI Machine Learning Repository</a:t>
            </a:r>
          </a:p>
          <a:p>
            <a:pPr>
              <a:defRPr sz="1800"/>
            </a:pPr>
            <a:r>
              <a:t>Total Instances: 569 patients</a:t>
            </a:r>
          </a:p>
          <a:p>
            <a:pPr>
              <a:defRPr sz="1800"/>
            </a:pPr>
            <a:r>
              <a:t>Total Features: 30 numeric diagnostic features</a:t>
            </a:r>
          </a:p>
          <a:p>
            <a:pPr>
              <a:defRPr sz="1800"/>
            </a:pPr>
            <a:r>
              <a:t>Feature Categories: Mean, Standard Error, and 'Worst' measurements of cell nuclei.</a:t>
            </a:r>
          </a:p>
          <a:p>
            <a:pPr>
              <a:defRPr sz="1800"/>
            </a:pPr>
            <a:r>
              <a:t>Class Distribution: 212 Malignant, 357 Benign.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Step 2: EDA - Feature Distributions</a:t>
            </a:r>
          </a:p>
        </p:txBody>
      </p:sp>
      <p:pic>
        <p:nvPicPr>
          <p:cNvPr id="3" name="Picture 2" descr="histog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5715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Analysis: Most features exhibit normal or log-normal distributions. Scaling is required due to varying magnitudes.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Step 2: EDA - Correlation Heatmap</a:t>
            </a:r>
          </a:p>
        </p:txBody>
      </p:sp>
      <p:pic>
        <p:nvPicPr>
          <p:cNvPr id="3" name="Picture 2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54864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Insight: High correlation observed between 'radius', 'perimeter', and 'area'. This suggests multicollinearity which we must handle.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Step 2: EDA - Outlier Detection</a:t>
            </a:r>
          </a:p>
        </p:txBody>
      </p:sp>
      <p:pic>
        <p:nvPicPr>
          <p:cNvPr id="3" name="Picture 2" descr="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62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Observation: Presence of outliers in several features. Robust models or proper scaling are necessary.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Step 2: EDA - PCA Visualization</a:t>
            </a:r>
          </a:p>
        </p:txBody>
      </p:sp>
      <p:pic>
        <p:nvPicPr>
          <p:cNvPr id="3" name="Picture 2" descr="pca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6096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Result: Clear separation between Malignant and Benign clusters in 2D space using PCA.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Step 3: Data Preprocessing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Data Cleaning: No missing values detected.</a:t>
            </a:r>
          </a:p>
          <a:p>
            <a:pPr>
              <a:defRPr sz="1800"/>
            </a:pPr>
            <a:r>
              <a:t>2. Feature Engineering: Separation of 30 clinical features.</a:t>
            </a:r>
          </a:p>
          <a:p>
            <a:pPr>
              <a:defRPr sz="1800"/>
            </a:pPr>
            <a:r>
              <a:t>3. Data Scaling: Used StandardScaler (Z-score normalization).</a:t>
            </a:r>
          </a:p>
          <a:p>
            <a:pPr>
              <a:defRPr sz="1800"/>
            </a:pPr>
            <a:r>
              <a:t>4. Data Splitting: 80/20 train-test split with stratification.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Step 4: Model Selection &amp;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Multiple models were evaluated to find the most reliable classifier:</a:t>
            </a:r>
          </a:p>
          <a:p>
            <a:pPr>
              <a:defRPr sz="1800"/>
            </a:pPr>
            <a:r>
              <a:t>Logistic Regression: Baseline model with L2 regularization.</a:t>
            </a:r>
          </a:p>
          <a:p>
            <a:pPr>
              <a:defRPr sz="1800"/>
            </a:pPr>
            <a:r>
              <a:t>Random Forest: Ensemble of decision trees to capture non-linearities.</a:t>
            </a:r>
          </a:p>
          <a:p>
            <a:pPr>
              <a:defRPr sz="1800"/>
            </a:pPr>
            <a:r>
              <a:t>Soft Voting Ensemble: Combining both for robust predictions.</a:t>
            </a:r>
          </a:p>
          <a:p>
            <a:pPr>
              <a:defRPr sz="1800"/>
            </a:pPr>
            <a:r>
              <a:t>Optimization: Hyperparameter tuning via GridSearchCV.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Step 5: Performance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Best Performing Model: Logistic Regression (C=1)</a:t>
            </a:r>
          </a:p>
          <a:p>
            <a:pPr lvl="1">
              <a:defRPr sz="1800"/>
            </a:pPr>
            <a:r>
              <a:t>Accuracy: 97.4%</a:t>
            </a:r>
          </a:p>
          <a:p>
            <a:pPr lvl="1">
              <a:defRPr sz="1800"/>
            </a:pPr>
            <a:r>
              <a:t>Precision: 97.2% (Minimizing False Positives)</a:t>
            </a:r>
          </a:p>
          <a:p>
            <a:pPr lvl="1">
              <a:defRPr sz="1800"/>
            </a:pPr>
            <a:r>
              <a:t>Recall: 98.6% (Minimizing False Negatives - CRITICAL)</a:t>
            </a:r>
          </a:p>
          <a:p>
            <a:pPr lvl="1">
              <a:defRPr sz="1800"/>
            </a:pPr>
            <a:r>
              <a:t>F1-Score: 0.98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Evaluation: Confusion Matrix</a:t>
            </a:r>
          </a:p>
        </p:txBody>
      </p:sp>
      <p:pic>
        <p:nvPicPr>
          <p:cNvPr id="3" name="Picture 2" descr="cm_Logistic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85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Interpretation: High recall ensures very few malignant cases are missed, which is vital in medical diagnostics.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Step 6: Clinical Deployment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model is deployed as an interactive web application.</a:t>
            </a:r>
          </a:p>
          <a:p>
            <a:pPr>
              <a:defRPr sz="1800"/>
            </a:pPr>
            <a:r>
              <a:t>Features: Real-time prediction and diagnostic confidence scores.</a:t>
            </a:r>
          </a:p>
          <a:p>
            <a:pPr>
              <a:defRPr sz="1800"/>
            </a:pPr>
            <a:r>
              <a:t>Ease of Use: Interactive sliders for all 30 diagnostic metrics.</a:t>
            </a:r>
          </a:p>
          <a:p>
            <a:pPr>
              <a:defRPr sz="1800"/>
            </a:pPr>
            <a:r>
              <a:t>Transparency: Integration of performance metrics for clinical trust.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Project Summary:</a:t>
            </a:r>
          </a:p>
          <a:p>
            <a:pPr>
              <a:defRPr sz="1800"/>
            </a:pPr>
            <a:r>
              <a:t>Achieved 97.4% accuracy in classification.</a:t>
            </a:r>
          </a:p>
          <a:p>
            <a:pPr>
              <a:defRPr sz="1800"/>
            </a:pPr>
            <a:r>
              <a:t>Developed a fully functional, deployment-ready diagnostic tool.</a:t>
            </a:r>
          </a:p>
          <a:p>
            <a:pPr>
              <a:defRPr sz="1800"/>
            </a:pPr>
            <a:r>
              <a:t>Established a robust ML pipeline from data to deployment.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